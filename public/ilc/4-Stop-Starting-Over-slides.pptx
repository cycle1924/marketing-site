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customXml" Target="../customXml/item1.xml"/><Relationship Id="rId55" Type="http://schemas.openxmlformats.org/officeDocument/2006/relationships/customXml" Target="../customXml/item2.xml"/><Relationship Id="rId56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20" y="1864962"/>
            <a:ext cx="10566533" cy="408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F2328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20" y="2578613"/>
            <a:ext cx="10566480" cy="346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20" y="1864962"/>
            <a:ext cx="10566533" cy="408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F2328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20" y="2578613"/>
            <a:ext cx="10566480" cy="346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370500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F299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ILC 2026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855614"/>
            <a:ext cx="10883529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Stop Starting Over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720" y="4042947"/>
            <a:ext cx="10883529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Three simple prompts that get you better answers from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720" y="5928425"/>
            <a:ext cx="7848582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Jason Greer · Peel Business Design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602188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HANDS UP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3087302"/>
            <a:ext cx="10883529" cy="119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Who has taken AI’s first answer and run with it?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2844746"/>
            <a:ext cx="10883529" cy="119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That’s like asking one person, one time, and calling it research.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2824457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Hi, I’m Jason.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20" y="3713440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 use AI every day. I still get bad answers.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100408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HANDS UP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687148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How often do you use AI at work?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9070" y="3633291"/>
            <a:ext cx="3374039" cy="1117843"/>
          </a:xfrm>
          <a:prstGeom prst="roundRect">
            <a:avLst>
              <a:gd name="adj" fmla="val 1079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  <p:txBody>
          <a:bodyPr wrap="square" lIns="274688" tIns="274706" rIns="192068" bIns="249269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Not yet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408967" y="3633291"/>
            <a:ext cx="3374039" cy="1117843"/>
          </a:xfrm>
          <a:prstGeom prst="roundRect">
            <a:avLst>
              <a:gd name="adj" fmla="val 1079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  <p:txBody>
          <a:bodyPr wrap="square" lIns="274687" tIns="274706" rIns="192068" bIns="249269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Now and then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98864" y="3633291"/>
            <a:ext cx="3374039" cy="1117843"/>
          </a:xfrm>
          <a:prstGeom prst="roundRect">
            <a:avLst>
              <a:gd name="adj" fmla="val 1079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  <p:txBody>
          <a:bodyPr wrap="square" lIns="274687" tIns="274706" rIns="192068" bIns="249269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Every day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19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Three ways to not settle for the first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1583513"/>
            <a:ext cx="3374039" cy="2273476"/>
          </a:xfrm>
          <a:prstGeom prst="roundRect">
            <a:avLst>
              <a:gd name="adj" fmla="val 530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094" y="1893537"/>
            <a:ext cx="2836610" cy="53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29094" y="2528553"/>
            <a:ext cx="2836610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Room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9094" y="2929793"/>
            <a:ext cx="2836610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Get more than one point of 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08967" y="1583513"/>
            <a:ext cx="3374039" cy="2273476"/>
          </a:xfrm>
          <a:prstGeom prst="roundRect">
            <a:avLst>
              <a:gd name="adj" fmla="val 530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991" y="1893537"/>
            <a:ext cx="2836610" cy="53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8991" y="2528553"/>
            <a:ext cx="2836610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100 Tries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18991" y="2929793"/>
            <a:ext cx="2836610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See what makes it better or worse.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98864" y="1583513"/>
            <a:ext cx="3374039" cy="2273476"/>
          </a:xfrm>
          <a:prstGeom prst="roundRect">
            <a:avLst>
              <a:gd name="adj" fmla="val 530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8888" y="1893537"/>
            <a:ext cx="2836610" cy="53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08888" y="2528553"/>
            <a:ext cx="2836610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Daily Loop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8888" y="2929793"/>
            <a:ext cx="2836610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Make tomorrow’s prompt better than today’s.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720" y="6167267"/>
            <a:ext cx="8502647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Scan now: all three prompts, word for word · peelforward.com/ilc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55166" y="4470366"/>
            <a:ext cx="1523997" cy="152399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17" name="Image 0" descr="QR code to peelforward.com/il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5887" y="4521088"/>
            <a:ext cx="1422373" cy="14223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339859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BEFORE ANYONE OPENS A TOOL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824974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AI is an eager intern.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2663146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 wants to help. It still needs a boss.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9070" y="3243461"/>
            <a:ext cx="3374039" cy="1694256"/>
          </a:xfrm>
          <a:prstGeom prst="roundRect">
            <a:avLst>
              <a:gd name="adj" fmla="val 712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6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282" y="3502676"/>
            <a:ext cx="406315" cy="4063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282" y="4061333"/>
            <a:ext cx="2941283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Leave out customer names, personal info and secrets.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408967" y="3243461"/>
            <a:ext cx="3374039" cy="1694256"/>
          </a:xfrm>
          <a:prstGeom prst="roundRect">
            <a:avLst>
              <a:gd name="adj" fmla="val 712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9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8179" y="3502676"/>
            <a:ext cx="406315" cy="4063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8179" y="4061333"/>
            <a:ext cx="294128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 it before you trust it.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998864" y="3243461"/>
            <a:ext cx="3374039" cy="1694256"/>
          </a:xfrm>
          <a:prstGeom prst="roundRect">
            <a:avLst>
              <a:gd name="adj" fmla="val 712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12" name="Image 2" descr="Verifie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8076" y="3502676"/>
            <a:ext cx="406315" cy="4063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58076" y="4061333"/>
            <a:ext cx="2941283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the tool your company approves.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12720" y="5198036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Works in ChatGPT, Copilot, Claude or Gemini.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673808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PRACTICE PLANT · MADE UP FOR TODAY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209732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Why did scrap go up?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9070" y="3105066"/>
            <a:ext cx="2476543" cy="1447895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282" y="3364278"/>
            <a:ext cx="2016861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78282" y="3973751"/>
            <a:ext cx="2016861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weeks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11470" y="3105066"/>
            <a:ext cx="2476633" cy="1447895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0682" y="3364278"/>
            <a:ext cx="2016954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967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70682" y="3973751"/>
            <a:ext cx="2016954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production runs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03960" y="3105066"/>
            <a:ext cx="2476543" cy="1447895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3173" y="3364278"/>
            <a:ext cx="2016861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63173" y="3973751"/>
            <a:ext cx="2016861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presses, 2 shifts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96360" y="3105066"/>
            <a:ext cx="2476543" cy="1447895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5573" y="3364278"/>
            <a:ext cx="2016861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55573" y="3973751"/>
            <a:ext cx="2016861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steel suppliers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720" y="4864091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run lists the press, part, steel, operator, start time, scrap and any comment from the floor.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370503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1 OF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855615"/>
            <a:ext cx="10883529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Room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720" y="4042947"/>
            <a:ext cx="10883529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Get more than one point of view.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641588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One voice gives you one view.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20" y="3428944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room gives you the argument.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6238273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The Room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596454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1 · THE ROOM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081572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Copy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20" y="2744391"/>
            <a:ext cx="10566533" cy="1739925"/>
          </a:xfrm>
          <a:prstGeom prst="roundRect">
            <a:avLst>
              <a:gd name="adj" fmla="val 5839"/>
            </a:avLst>
          </a:prstGeom>
          <a:solidFill>
            <a:srgbClr val="EAF0F8"/>
          </a:solidFill>
          <a:ln/>
        </p:spPr>
        <p:txBody>
          <a:bodyPr wrap="square" lIns="401193" tIns="325842" rIns="32436" bIns="300429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Act as a panel of 4 people: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[the boss]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[the person who does the work]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[the customer]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and a skeptic. Each one gives their view on this problem: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[your problem]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Then let them respond to each other for 3 rounds. End with what they agree on and what they still disagree 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720" y="2744391"/>
            <a:ext cx="10566533" cy="1739925"/>
          </a:xfrm>
          <a:custGeom>
            <a:avLst/>
            <a:gdLst/>
            <a:ahLst/>
            <a:cxnLst/>
            <a:rect l="l" t="t" r="r" b="b"/>
            <a:pathLst>
              <a:path w="10566533" h="1739925">
                <a:moveTo>
                  <a:pt x="101600" y="1739925"/>
                </a:moveTo>
                <a:lnTo>
                  <a:pt x="101600" y="173992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25400" stAng="16200000" swAng="-5400000"/>
                <a:lnTo>
                  <a:pt x="76200" y="1638325"/>
                </a:lnTo>
                <a:arcTo hR="101600" wR="25400" stAng="10800000" swAng="-5400000"/>
                <a:close/>
              </a:path>
            </a:pathLst>
          </a:custGeom>
          <a:solidFill>
            <a:srgbClr val="1F5FAD"/>
          </a:solidFill>
          <a:ln/>
        </p:spPr>
      </p:sp>
      <p:sp>
        <p:nvSpPr>
          <p:cNvPr id="6" name="Text 4"/>
          <p:cNvSpPr/>
          <p:nvPr/>
        </p:nvSpPr>
        <p:spPr>
          <a:xfrm>
            <a:off x="812720" y="4738284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Anything in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[brackets]</a:t>
            </a: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is yours to fill in. Have data? Attach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The Room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1678787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Pick people who would disagree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2398768"/>
            <a:ext cx="5168943" cy="1177441"/>
          </a:xfrm>
          <a:prstGeom prst="roundRect">
            <a:avLst>
              <a:gd name="adj" fmla="val 102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282" y="2657977"/>
            <a:ext cx="4790033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boss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282" y="3008412"/>
            <a:ext cx="479003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Cares about cost and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03870" y="2398768"/>
            <a:ext cx="5169033" cy="1177441"/>
          </a:xfrm>
          <a:prstGeom prst="roundRect">
            <a:avLst>
              <a:gd name="adj" fmla="val 102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3082" y="2657977"/>
            <a:ext cx="4790126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person doing the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3082" y="3008412"/>
            <a:ext cx="4790126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Knows what really happens.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9070" y="3792066"/>
            <a:ext cx="5168943" cy="1177441"/>
          </a:xfrm>
          <a:prstGeom prst="roundRect">
            <a:avLst>
              <a:gd name="adj" fmla="val 102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282" y="4051275"/>
            <a:ext cx="4790033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customer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282" y="4401710"/>
            <a:ext cx="479003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Feels the result.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03870" y="3792066"/>
            <a:ext cx="5169033" cy="1177441"/>
          </a:xfrm>
          <a:prstGeom prst="roundRect">
            <a:avLst>
              <a:gd name="adj" fmla="val 102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3082" y="4051275"/>
            <a:ext cx="4790126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skeptic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3082" y="4401710"/>
            <a:ext cx="4790126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Asks “How do you know?”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720" y="6238273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The Room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PLANT · WHAT THE ROOM SAID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297837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room argued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070" y="2101776"/>
            <a:ext cx="5168852" cy="1574789"/>
          </a:xfrm>
          <a:prstGeom prst="roundRect">
            <a:avLst>
              <a:gd name="adj" fmla="val 766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282" y="2360991"/>
            <a:ext cx="478993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PLANT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282" y="2686062"/>
            <a:ext cx="4789939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“My gut says it’s Ridgeline material plus second shift on Press 2.”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03870" y="2101776"/>
            <a:ext cx="5168852" cy="1574789"/>
          </a:xfrm>
          <a:prstGeom prst="roundRect">
            <a:avLst>
              <a:gd name="adj" fmla="val 766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3082" y="2360991"/>
            <a:ext cx="478993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QUALITY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63082" y="2686062"/>
            <a:ext cx="4789939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“Those four rows are one problem showing up four ways.”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9070" y="3892513"/>
            <a:ext cx="5168852" cy="1574789"/>
          </a:xfrm>
          <a:prstGeom prst="roundRect">
            <a:avLst>
              <a:gd name="adj" fmla="val 766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282" y="4151728"/>
            <a:ext cx="478993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SECOND-SHIFT OPERATOR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282" y="4476800"/>
            <a:ext cx="4789939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“We’ve been writing it down since week 2. Nobody followed up.”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3870" y="3892513"/>
            <a:ext cx="5168852" cy="1574789"/>
          </a:xfrm>
          <a:prstGeom prst="roundRect">
            <a:avLst>
              <a:gd name="adj" fmla="val 766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3082" y="4151728"/>
            <a:ext cx="478993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SKEPTIC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3082" y="4476800"/>
            <a:ext cx="4789939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“This log can tell us where to look, not what’s broken.”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The Room · The AI played all four · Real lines from one fresh chat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F299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MOMENT THAT MATTERED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348643"/>
            <a:ext cx="10883529" cy="12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“Put the three of us on Presses 1, 3 or 4 and we scrap the same as day shift.”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4063957"/>
            <a:ext cx="10883342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99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operator in the room cleared the operators. Then go ask the real one.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070" y="1022319"/>
            <a:ext cx="5168852" cy="2527264"/>
          </a:xfrm>
          <a:prstGeom prst="roundRect">
            <a:avLst>
              <a:gd name="adj" fmla="val 4774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9094" y="1332347"/>
            <a:ext cx="468526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THEY AGREED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29094" y="1682775"/>
            <a:ext cx="4685267" cy="843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It’s one spot, and it’s not one person.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03870" y="1022319"/>
            <a:ext cx="5168852" cy="2527264"/>
          </a:xfrm>
          <a:prstGeom prst="roundRect">
            <a:avLst>
              <a:gd name="adj" fmla="val 4774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3895" y="1332347"/>
            <a:ext cx="4685267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THEY DISAGREED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13895" y="1682775"/>
            <a:ext cx="4685267" cy="125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Switch steel now, or keep running it to find the cause?</a:t>
            </a:r>
            <a:endParaRPr lang="en-US" sz="2800" dirty="0"/>
          </a:p>
        </p:txBody>
      </p:sp>
      <p:sp>
        <p:nvSpPr>
          <p:cNvPr id="8" name="Text 6"/>
          <p:cNvSpPr/>
          <p:nvPr>
            <p:ph type="title"/>
          </p:nvPr>
        </p:nvSpPr>
        <p:spPr>
          <a:xfrm>
            <a:off x="812720" y="4063963"/>
            <a:ext cx="10883342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C2560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disagreement is where you go look.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The Room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1931485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Use The Room when people sit on both sides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2651466"/>
            <a:ext cx="5168943" cy="924740"/>
          </a:xfrm>
          <a:prstGeom prst="roundRect">
            <a:avLst>
              <a:gd name="adj" fmla="val 130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4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282" y="2910687"/>
            <a:ext cx="406315" cy="4063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7754" y="2959503"/>
            <a:ext cx="1898791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hard decision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03870" y="2651466"/>
            <a:ext cx="5169033" cy="924740"/>
          </a:xfrm>
          <a:prstGeom prst="roundRect">
            <a:avLst>
              <a:gd name="adj" fmla="val 130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7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63082" y="2910687"/>
            <a:ext cx="406315" cy="4063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2554" y="2959503"/>
            <a:ext cx="3163167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plan before you share it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19070" y="3792060"/>
            <a:ext cx="5168943" cy="924740"/>
          </a:xfrm>
          <a:prstGeom prst="roundRect">
            <a:avLst>
              <a:gd name="adj" fmla="val 130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10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8282" y="4051281"/>
            <a:ext cx="406315" cy="4063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87754" y="4100097"/>
            <a:ext cx="3880947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email that could land wrong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203870" y="3792060"/>
            <a:ext cx="5169033" cy="924740"/>
          </a:xfrm>
          <a:prstGeom prst="roundRect">
            <a:avLst>
              <a:gd name="adj" fmla="val 13047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13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63082" y="4051281"/>
            <a:ext cx="406315" cy="4063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72554" y="4100097"/>
            <a:ext cx="4293312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change people will push back on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12720" y="6238273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 · The Room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370497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2 OF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855615"/>
            <a:ext cx="10883529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100 Tries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720" y="4042953"/>
            <a:ext cx="10883529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See what makes it better or worse.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641588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One game tells you a story.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20" y="3428950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hundred games show you the pattern.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883395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2 · THE 100 TRIES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368500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Copy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20" y="3031319"/>
            <a:ext cx="10566533" cy="1739925"/>
          </a:xfrm>
          <a:prstGeom prst="roundRect">
            <a:avLst>
              <a:gd name="adj" fmla="val 5839"/>
            </a:avLst>
          </a:prstGeom>
          <a:solidFill>
            <a:srgbClr val="EAF0F8"/>
          </a:solidFill>
          <a:ln/>
        </p:spPr>
        <p:txBody>
          <a:bodyPr wrap="square" lIns="401193" tIns="325842" rIns="32436" bIns="300429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Imagine 100 different ways to solve this problem: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[your problem]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Sort them into best, average and worst. Then tell me what the best ones have in common and what the worst ones have in common.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720" y="3031319"/>
            <a:ext cx="10566533" cy="1739925"/>
          </a:xfrm>
          <a:custGeom>
            <a:avLst/>
            <a:gdLst/>
            <a:ahLst/>
            <a:cxnLst/>
            <a:rect l="l" t="t" r="r" b="b"/>
            <a:pathLst>
              <a:path w="10566533" h="1739925">
                <a:moveTo>
                  <a:pt x="101600" y="1739925"/>
                </a:moveTo>
                <a:lnTo>
                  <a:pt x="101600" y="173992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25400" stAng="16200000" swAng="-5400000"/>
                <a:lnTo>
                  <a:pt x="76200" y="1638325"/>
                </a:lnTo>
                <a:arcTo hR="101600" wR="25400" stAng="10800000" swAng="-5400000"/>
                <a:close/>
              </a:path>
            </a:pathLst>
          </a:custGeom>
          <a:solidFill>
            <a:srgbClr val="1F5FAD"/>
          </a:solidFill>
          <a:ln/>
        </p:spPr>
      </p:sp>
      <p:sp>
        <p:nvSpPr>
          <p:cNvPr id="6" name="Text 4"/>
          <p:cNvSpPr/>
          <p:nvPr/>
        </p:nvSpPr>
        <p:spPr>
          <a:xfrm>
            <a:off x="812720" y="6238267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26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REAL EXAMPLE · NO DATA NEEDED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297843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100 ways to fix a huddle people tune out 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070" y="2101788"/>
            <a:ext cx="5168852" cy="2844726"/>
          </a:xfrm>
          <a:prstGeom prst="roundRect">
            <a:avLst>
              <a:gd name="adj" fmla="val 4241"/>
            </a:avLst>
          </a:prstGeom>
          <a:solidFill>
            <a:srgbClr val="EAF0F8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282" y="2360997"/>
            <a:ext cx="478993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BEST 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282" y="2711425"/>
            <a:ext cx="478993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Close the loop on what people raised.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282" y="3121546"/>
            <a:ext cx="478993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Only cover the next 8 hours.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282" y="3531667"/>
            <a:ext cx="478993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crew talks as much as the boss.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03870" y="2101788"/>
            <a:ext cx="5168852" cy="2844726"/>
          </a:xfrm>
          <a:prstGeom prst="roundRect">
            <a:avLst>
              <a:gd name="adj" fmla="val 4241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3082" y="2360997"/>
            <a:ext cx="478993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WORST ONES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3082" y="2711425"/>
            <a:ext cx="4789939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Treat tuning out as a discipline problem when it’s really a usefulness problem.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3082" y="3430129"/>
            <a:ext cx="490328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 sign-in sheets, quizzes, longer meetings.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3082" y="3840249"/>
            <a:ext cx="478993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One-way: reading, lecturing, announcing.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 · From one fresh chat, summarized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990092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HONEST NOTE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475210"/>
            <a:ext cx="10883529" cy="119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AI imagines the 100 tries. It doesn’t run them.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3897573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it to spot patterns, not to trust exact numbers.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20" y="4344566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Have real data? Give it that instead.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203821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SAME PROMPT, REAL DATA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663477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Our plant already has 967 real tries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20" y="2300846"/>
            <a:ext cx="10566533" cy="1295388"/>
          </a:xfrm>
          <a:prstGeom prst="roundRect">
            <a:avLst>
              <a:gd name="adj" fmla="val 7843"/>
            </a:avLst>
          </a:prstGeom>
          <a:solidFill>
            <a:srgbClr val="EAF0F8"/>
          </a:solidFill>
          <a:ln/>
        </p:spPr>
        <p:txBody>
          <a:bodyPr wrap="square" lIns="401193" tIns="275042" rIns="32436" bIns="249605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Here is my data. Sort the runs from best to worst. What do the worst runs have in common? What do the best runs have in common?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720" y="2300846"/>
            <a:ext cx="10566533" cy="1295388"/>
          </a:xfrm>
          <a:custGeom>
            <a:avLst/>
            <a:gdLst/>
            <a:ahLst/>
            <a:cxnLst/>
            <a:rect l="l" t="t" r="r" b="b"/>
            <a:pathLst>
              <a:path w="10566533" h="1295388">
                <a:moveTo>
                  <a:pt x="101600" y="1295388"/>
                </a:moveTo>
                <a:lnTo>
                  <a:pt x="101600" y="1295388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25400" stAng="16200000" swAng="-5400000"/>
                <a:lnTo>
                  <a:pt x="76200" y="1193788"/>
                </a:lnTo>
                <a:arcTo hR="101600" wR="25400" stAng="10800000" swAng="-5400000"/>
                <a:close/>
              </a:path>
            </a:pathLst>
          </a:custGeom>
          <a:solidFill>
            <a:srgbClr val="1F5FAD"/>
          </a:solidFill>
          <a:ln/>
        </p:spPr>
      </p:sp>
      <p:sp>
        <p:nvSpPr>
          <p:cNvPr id="6" name="Text 4"/>
          <p:cNvSpPr/>
          <p:nvPr/>
        </p:nvSpPr>
        <p:spPr>
          <a:xfrm>
            <a:off x="812720" y="3824759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the file looks like: one row per run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13" y="4296008"/>
          <a:ext cx="10554940" cy="1154817"/>
        </p:xfrm>
        <a:graphic>
          <a:graphicData uri="http://schemas.openxmlformats.org/drawingml/2006/table">
            <a:tbl>
              <a:tblPr/>
              <a:tblGrid>
                <a:gridCol w="1372142"/>
                <a:gridCol w="2322087"/>
                <a:gridCol w="2110988"/>
                <a:gridCol w="1372142"/>
                <a:gridCol w="1266593"/>
                <a:gridCol w="2110988"/>
              </a:tblGrid>
              <a:tr h="38493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Press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Start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Steel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Operator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Scrap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Comment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</a:tr>
              <a:tr h="38493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Press 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Jun 22, 6:05 am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Ridgeline 225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Op 13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 of 438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939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Press 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Jun 22, 2:10 pm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Ridgeline 225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Op 22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46 of 562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ran slow to hold size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3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PLANT · ONE RUN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196206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Every run is one dot</a:t>
            </a:r>
            <a:endParaRPr lang="en-US" sz="2800" dirty="0"/>
          </a:p>
        </p:txBody>
      </p:sp>
      <p:pic>
        <p:nvPicPr>
          <p:cNvPr id="4" name="Image 0" descr="Axis: good parts in each run, from 90 to 100 percent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812720" y="1904950"/>
            <a:ext cx="10566352" cy="3555932"/>
          </a:xfrm>
          <a:prstGeom prst="rect">
            <a:avLst/>
          </a:prstGeom>
        </p:spPr>
      </p:pic>
      <p:pic>
        <p:nvPicPr>
          <p:cNvPr id="5" name="Image 1" descr="One dot for one run: 97.6 percent good">    </p:cNvPr>
          <p:cNvPicPr>
            <a:picLocks noChangeAspect="1"/>
          </p:cNvPicPr>
          <p:nvPr/>
        </p:nvPicPr>
        <p:blipFill>
          <a:blip r:embed="rId2"/>
          <a:srcRect l="0" r="0" t="-16" b="-16"/>
          <a:stretch/>
        </p:blipFill>
        <p:spPr>
          <a:xfrm>
            <a:off x="812720" y="1904950"/>
            <a:ext cx="10566352" cy="35559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5641" y="3555926"/>
            <a:ext cx="5494008" cy="322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run on Press 1: 13 of 543 parts scrapped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155641" y="3936975"/>
            <a:ext cx="5494008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97.6% good</a:t>
            </a:r>
            <a:endParaRPr lang="en-US" sz="4000" dirty="0"/>
          </a:p>
        </p:txBody>
      </p:sp>
      <p:pic>
        <p:nvPicPr>
          <p:cNvPr id="8" name="Image 2" descr="connector">    </p:cNvPr>
          <p:cNvPicPr>
            <a:picLocks noChangeAspect="1"/>
          </p:cNvPicPr>
          <p:nvPr/>
        </p:nvPicPr>
        <p:blipFill>
          <a:blip r:embed="rId3"/>
          <a:srcRect l="0" r="0" t="-28" b="-28"/>
          <a:stretch/>
        </p:blipFill>
        <p:spPr>
          <a:xfrm>
            <a:off x="8851878" y="4584663"/>
            <a:ext cx="101533" cy="6222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964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90%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920969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92%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933884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94%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946889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96%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959803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98%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972718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100%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4224" y="5753075"/>
            <a:ext cx="1088334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Good parts in each run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26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PLANT · ALL 967 RUNS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196218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Stack them up and a shape appears</a:t>
            </a:r>
            <a:endParaRPr lang="en-US" sz="2800" dirty="0"/>
          </a:p>
        </p:txBody>
      </p:sp>
      <p:pic>
        <p:nvPicPr>
          <p:cNvPr id="4" name="Image 0" descr="Axis: good parts in each run, from 90 to 100 percent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812720" y="1904950"/>
            <a:ext cx="10566352" cy="3555932"/>
          </a:xfrm>
          <a:prstGeom prst="rect">
            <a:avLst/>
          </a:prstGeom>
        </p:spPr>
      </p:pic>
      <p:pic>
        <p:nvPicPr>
          <p:cNvPr id="5" name="Image 1" descr="967 dots, one per run, stacked into a hump between 96 and 99 percent good with a long thin tail to the left">    </p:cNvPr>
          <p:cNvPicPr>
            <a:picLocks noChangeAspect="1"/>
          </p:cNvPicPr>
          <p:nvPr/>
        </p:nvPicPr>
        <p:blipFill>
          <a:blip r:embed="rId2"/>
          <a:srcRect l="0" r="0" t="-16" b="-16"/>
          <a:stretch/>
        </p:blipFill>
        <p:spPr>
          <a:xfrm>
            <a:off x="812720" y="1904950"/>
            <a:ext cx="10566352" cy="3555932"/>
          </a:xfrm>
          <a:prstGeom prst="rect">
            <a:avLst/>
          </a:prstGeom>
        </p:spPr>
      </p:pic>
      <p:pic>
        <p:nvPicPr>
          <p:cNvPr id="6" name="Image 2" descr="The same run, now one dot among many">    </p:cNvPr>
          <p:cNvPicPr>
            <a:picLocks noChangeAspect="1"/>
          </p:cNvPicPr>
          <p:nvPr/>
        </p:nvPicPr>
        <p:blipFill>
          <a:blip r:embed="rId3"/>
          <a:srcRect l="0" r="0" t="-16" b="-16"/>
          <a:stretch/>
        </p:blipFill>
        <p:spPr>
          <a:xfrm>
            <a:off x="812720" y="1904950"/>
            <a:ext cx="10566352" cy="3555932"/>
          </a:xfrm>
          <a:prstGeom prst="rect">
            <a:avLst/>
          </a:prstGeom>
        </p:spPr>
      </p:pic>
      <p:pic>
        <p:nvPicPr>
          <p:cNvPr id="7" name="Image 3" descr="A normal curve fitted to every run outside the problem spot">    </p:cNvPr>
          <p:cNvPicPr>
            <a:picLocks noChangeAspect="1"/>
          </p:cNvPicPr>
          <p:nvPr/>
        </p:nvPicPr>
        <p:blipFill>
          <a:blip r:embed="rId4"/>
          <a:srcRect l="0" r="0" t="-16" b="-16"/>
          <a:stretch/>
        </p:blipFill>
        <p:spPr>
          <a:xfrm>
            <a:off x="812720" y="1904950"/>
            <a:ext cx="10566352" cy="35559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12720" y="2095438"/>
            <a:ext cx="4970738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967 runs. One dot each.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812720" y="2539975"/>
            <a:ext cx="4970738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curve: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what a normal run looks like when nothing special is going on.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907964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90%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2920969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92%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933884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94%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946889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96%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959803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98%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0972718" y="5499013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54224" y="5753075"/>
            <a:ext cx="1088334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Good parts in each run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26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BEST RUNS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20" y="1297831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They had almost nothing in common.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2136006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operator, every part, both steels, both shifts. Mostly ordinary runs that had a good day.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20" y="4063963"/>
            <a:ext cx="10883342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C2560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Don’t copy luck.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495921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GUESS · HANDS UP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031839"/>
            <a:ext cx="10883529" cy="119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Of the 25 worst runs, how many came from one spot?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9070" y="3511376"/>
            <a:ext cx="2476543" cy="1016220"/>
          </a:xfrm>
          <a:prstGeom prst="roundRect">
            <a:avLst>
              <a:gd name="adj" fmla="val 11872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  <p:txBody>
          <a:bodyPr wrap="square" lIns="223906" tIns="223906" rIns="223906" bIns="198445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About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511470" y="3511376"/>
            <a:ext cx="2476633" cy="1016220"/>
          </a:xfrm>
          <a:prstGeom prst="roundRect">
            <a:avLst>
              <a:gd name="adj" fmla="val 11872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  <p:txBody>
          <a:bodyPr wrap="square" lIns="223906" tIns="223906" rIns="223906" bIns="198445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About 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03960" y="3511376"/>
            <a:ext cx="2476543" cy="1016220"/>
          </a:xfrm>
          <a:prstGeom prst="roundRect">
            <a:avLst>
              <a:gd name="adj" fmla="val 11872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  <p:txBody>
          <a:bodyPr wrap="square" lIns="223906" tIns="223906" rIns="223906" bIns="198445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About 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896360" y="3511376"/>
            <a:ext cx="2476543" cy="1016220"/>
          </a:xfrm>
          <a:prstGeom prst="roundRect">
            <a:avLst>
              <a:gd name="adj" fmla="val 11872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  <p:txBody>
          <a:bodyPr wrap="square" lIns="223906" tIns="223906" rIns="223906" bIns="198445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All 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2720" y="4838725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spot = Press 2, second shift, Ridgeline steel. About 1 run in 10.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3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WORST RUNS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20" y="1170843"/>
            <a:ext cx="10883529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2994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25 of 25</a:t>
            </a:r>
            <a:endParaRPr lang="en-US" sz="7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20" y="2231194"/>
            <a:ext cx="10883529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were Press 2, second shift, Ridgeline steel.</a:t>
            </a:r>
            <a:endParaRPr lang="en-US" sz="2800" dirty="0"/>
          </a:p>
        </p:txBody>
      </p:sp>
      <p:pic>
        <p:nvPicPr>
          <p:cNvPr id="5" name="Image 0" descr="The same 967 dots as before. The 25 worst runs, all at the far left end of the tail, are orange.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12720" y="3301963"/>
            <a:ext cx="10566352" cy="1949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20" y="4298900"/>
            <a:ext cx="3401021" cy="272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299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25 worst runs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7964" y="5302188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90%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20969" y="5302188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92%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33884" y="5302188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94%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6889" y="5302188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96%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59803" y="5302188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98%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718" y="5302188"/>
            <a:ext cx="81279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 · I checked this myself in a spreadsheet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213632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EASY ANSWER WAS A NAME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698750"/>
            <a:ext cx="10883529" cy="119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Operator 14 has the highest scrap rate in the plant.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4121113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Hands up if you’ve seen a report blame a person when the problem was the process.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1682688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It looked across instead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2402669"/>
            <a:ext cx="5168943" cy="1938171"/>
          </a:xfrm>
          <a:prstGeom prst="roundRect">
            <a:avLst>
              <a:gd name="adj" fmla="val 6225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094" y="2712690"/>
            <a:ext cx="4685360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C2560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4.8%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129094" y="3722229"/>
            <a:ext cx="4685360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Operator 14’s scrap on Press 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03870" y="2402669"/>
            <a:ext cx="5169033" cy="1938171"/>
          </a:xfrm>
          <a:prstGeom prst="roundRect">
            <a:avLst>
              <a:gd name="adj" fmla="val 6225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3895" y="2712690"/>
            <a:ext cx="4685453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2.3%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6513895" y="3722229"/>
            <a:ext cx="468545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Operator 14’s scrap on the other presses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720" y="4651970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Same person, normal everywhere else. It’s not one person.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· The 100 Tries · Scrap as a percent of parts, 12 weeks · I checked this myself in a spreadsheet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2347044"/>
            <a:ext cx="10883529" cy="12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“You can’t be curious and judgmental at the same time.”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20" y="3870945"/>
            <a:ext cx="10883529" cy="66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“Who scrapped the most?” is a judgmental question.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“What do the worst runs have in common?” is a curious one.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85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2962312"/>
            <a:ext cx="10883529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BF7F2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Go look at Press 2.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812720" y="4381413"/>
            <a:ext cx="10883342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BF7F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About 1,700 extra scrapped parts in 12 weeks.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370485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3 OF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855615"/>
            <a:ext cx="10883529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Daily Loop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720" y="4042941"/>
            <a:ext cx="10883529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Make tomorrow’s prompt better than today’s.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870720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STOP STARTING 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20" y="2305025"/>
            <a:ext cx="10883529" cy="119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AI won’t remember what you learned today.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3676576"/>
            <a:ext cx="1088352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Your prompt will.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12720" y="4463926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Memory features help you. A saved prompt helps your whole team.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The Daily Loop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551880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PDCA = PLAN, DO, CHECK, ACT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087811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You already know this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070" y="2807791"/>
            <a:ext cx="2476543" cy="1663823"/>
          </a:xfrm>
          <a:prstGeom prst="roundRect">
            <a:avLst>
              <a:gd name="adj" fmla="val 725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282" y="3067000"/>
            <a:ext cx="2016861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8282" y="3595216"/>
            <a:ext cx="2016861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will I try?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11470" y="2807791"/>
            <a:ext cx="2476633" cy="1663823"/>
          </a:xfrm>
          <a:prstGeom prst="roundRect">
            <a:avLst>
              <a:gd name="adj" fmla="val 725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0682" y="3067000"/>
            <a:ext cx="2016954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70682" y="3595216"/>
            <a:ext cx="2016954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exactly do I do today?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03960" y="2807791"/>
            <a:ext cx="2476543" cy="1663823"/>
          </a:xfrm>
          <a:prstGeom prst="roundRect">
            <a:avLst>
              <a:gd name="adj" fmla="val 7251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3173" y="3067000"/>
            <a:ext cx="2016861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C2560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Check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63173" y="3595216"/>
            <a:ext cx="2016861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How will I know it worked?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896360" y="2807791"/>
            <a:ext cx="2476543" cy="1663823"/>
          </a:xfrm>
          <a:prstGeom prst="roundRect">
            <a:avLst>
              <a:gd name="adj" fmla="val 725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5573" y="3067000"/>
            <a:ext cx="2016861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Act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55573" y="3595216"/>
            <a:ext cx="2016861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will I change next time?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720" y="4782741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Shout it out: which step does your team skip most?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2720" y="6238255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The Daily Loop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419845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 3 · THE DAILY LOOP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904950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Copy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20" y="2567756"/>
            <a:ext cx="10566533" cy="2667039"/>
          </a:xfrm>
          <a:prstGeom prst="roundRect">
            <a:avLst>
              <a:gd name="adj" fmla="val 3809"/>
            </a:avLst>
          </a:prstGeom>
          <a:solidFill>
            <a:srgbClr val="EAF0F8"/>
          </a:solidFill>
          <a:ln/>
        </p:spPr>
        <p:txBody>
          <a:bodyPr wrap="square" lIns="401193" tIns="275042" rIns="32436" bIns="249605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Help me with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[your problem]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using Plan, Do, Check, Act.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Plan: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What should I try?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Do: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What exactly should I do today?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Check: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How will I know if it worked?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Act: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What should I change next time?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At the end, write me a better version of this prompt to use tomorrow.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720" y="2567756"/>
            <a:ext cx="10566533" cy="2667039"/>
          </a:xfrm>
          <a:custGeom>
            <a:avLst/>
            <a:gdLst/>
            <a:ahLst/>
            <a:cxnLst/>
            <a:rect l="l" t="t" r="r" b="b"/>
            <a:pathLst>
              <a:path w="10566533" h="2667039">
                <a:moveTo>
                  <a:pt x="101600" y="2667039"/>
                </a:moveTo>
                <a:lnTo>
                  <a:pt x="101600" y="2667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25400" stAng="16200000" swAng="-5400000"/>
                <a:lnTo>
                  <a:pt x="76200" y="2565439"/>
                </a:lnTo>
                <a:arcTo hR="101600" wR="25400" stAng="10800000" swAng="-5400000"/>
                <a:close/>
              </a:path>
            </a:pathLst>
          </a:custGeom>
          <a:solidFill>
            <a:srgbClr val="1F5FAD"/>
          </a:solidFill>
          <a:ln/>
        </p:spPr>
      </p:sp>
      <p:sp>
        <p:nvSpPr>
          <p:cNvPr id="6" name="Text 4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The Daily Loop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414760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PLANT · WHAT CHECK SAID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950690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It suggested a target before the 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070" y="2670671"/>
            <a:ext cx="5168943" cy="1938171"/>
          </a:xfrm>
          <a:prstGeom prst="roundRect">
            <a:avLst>
              <a:gd name="adj" fmla="val 6225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094" y="2980705"/>
            <a:ext cx="4685360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7.7%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129094" y="3990231"/>
            <a:ext cx="4685360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Scrap there now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03870" y="2670671"/>
            <a:ext cx="5169033" cy="1938171"/>
          </a:xfrm>
          <a:prstGeom prst="roundRect">
            <a:avLst>
              <a:gd name="adj" fmla="val 6225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3895" y="2980705"/>
            <a:ext cx="4685453" cy="95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C2560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3.5%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6513895" y="3990231"/>
            <a:ext cx="468545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Suggested target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720" y="4919985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good run is a signal. Confirm it with 3 to 5 more.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The Daily Loop · Press 2, second-shift crew, Ridgeline steel, last 3 weeks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239070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F299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TRICK IS THE LAST LINE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2775000"/>
            <a:ext cx="10883529" cy="12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“Write me a better version of this prompt to use tomorrow.”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4298900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 don’t have to be good at AI. The prompt gets a little better every day.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91431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PLANT · THE PROMPT IT WROTE FOR TOMORROW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376536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What it added for tomorrow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070" y="2045717"/>
            <a:ext cx="5168943" cy="1460666"/>
          </a:xfrm>
          <a:prstGeom prst="roundRect">
            <a:avLst>
              <a:gd name="adj" fmla="val 8260"/>
            </a:avLst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282" y="2304926"/>
            <a:ext cx="479003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STARTS FROM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282" y="2629991"/>
            <a:ext cx="479003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“What we already know: …”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03870" y="2045717"/>
            <a:ext cx="5169033" cy="1460666"/>
          </a:xfrm>
          <a:prstGeom prst="roundRect">
            <a:avLst>
              <a:gd name="adj" fmla="val 8260"/>
            </a:avLst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3082" y="2304926"/>
            <a:ext cx="479012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CLOSES THE LOOP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63082" y="2629991"/>
            <a:ext cx="4790126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“What I tested yesterday: [ran Press 2 evenings on day-shift settings]”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9070" y="3722241"/>
            <a:ext cx="5168943" cy="1460666"/>
          </a:xfrm>
          <a:prstGeom prst="roundRect">
            <a:avLst>
              <a:gd name="adj" fmla="val 8260"/>
            </a:avLst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282" y="3981450"/>
            <a:ext cx="4790033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ASKS FOR A TARGET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282" y="4306515"/>
            <a:ext cx="479003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“Set a success number before I start.”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3870" y="3722241"/>
            <a:ext cx="5169033" cy="1460666"/>
          </a:xfrm>
          <a:prstGeom prst="roundRect">
            <a:avLst>
              <a:gd name="adj" fmla="val 8260"/>
            </a:avLst>
          </a:prstGeom>
          <a:solidFill>
            <a:srgbClr val="EAF0F8"/>
          </a:solidFill>
          <a:ln w="12700">
            <a:solidFill>
              <a:srgbClr val="C9D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3082" y="3981450"/>
            <a:ext cx="479012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CHECKS THE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3082" y="4306515"/>
            <a:ext cx="4790126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“If anything in the data looks wrong or missing, tell me.”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720" y="5443215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Tomorrow: new chat, paste it in, attach the new data, fill in the blanks.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The Daily Loop · Lines quoted from the prompt it wrote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1804690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Save it like standard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2524671"/>
            <a:ext cx="3374039" cy="1694256"/>
          </a:xfrm>
          <a:prstGeom prst="roundRect">
            <a:avLst>
              <a:gd name="adj" fmla="val 712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4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282" y="2783880"/>
            <a:ext cx="406315" cy="4063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282" y="3342556"/>
            <a:ext cx="294128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Put a date on it.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408967" y="2524671"/>
            <a:ext cx="3374039" cy="1694256"/>
          </a:xfrm>
          <a:prstGeom prst="roundRect">
            <a:avLst>
              <a:gd name="adj" fmla="val 712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7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8179" y="2783880"/>
            <a:ext cx="406315" cy="4063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8179" y="3342556"/>
            <a:ext cx="2941283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Give it an owner.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998864" y="2524671"/>
            <a:ext cx="3374039" cy="1694256"/>
          </a:xfrm>
          <a:prstGeom prst="roundRect">
            <a:avLst>
              <a:gd name="adj" fmla="val 7121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10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8076" y="2783880"/>
            <a:ext cx="406315" cy="4063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58076" y="3342556"/>
            <a:ext cx="2941283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Keep it where your team can find it.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12720" y="4530055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 it before you save it. Trim it when it gets past one screen.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12720" y="6238280"/>
            <a:ext cx="5886390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· The Daily Loop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532435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F299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SHOUT IT OUT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3017565"/>
            <a:ext cx="10883529" cy="634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Press 2, 2 pm.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20" y="3881090"/>
            <a:ext cx="10883529" cy="46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C9D3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do you check first? Who do you ask?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812726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AI is a tool, not a problem solver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1784325"/>
            <a:ext cx="5168852" cy="1701773"/>
          </a:xfrm>
          <a:prstGeom prst="roundRect">
            <a:avLst>
              <a:gd name="adj" fmla="val 709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4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282" y="2043534"/>
            <a:ext cx="406315" cy="4063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7754" y="2043534"/>
            <a:ext cx="416218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Root cause analysis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87754" y="2393975"/>
            <a:ext cx="4162184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Keep asking why until you reach a cause you can test.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03870" y="1784325"/>
            <a:ext cx="5168852" cy="1701773"/>
          </a:xfrm>
          <a:prstGeom prst="roundRect">
            <a:avLst>
              <a:gd name="adj" fmla="val 709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8" name="Image 1" descr="Wren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63082" y="2043534"/>
            <a:ext cx="406315" cy="4063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72554" y="2043534"/>
            <a:ext cx="416218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Go to the gemba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072554" y="2393975"/>
            <a:ext cx="4293817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Stand at Press 2 at 2 pm with the crew.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19070" y="3702050"/>
            <a:ext cx="5168852" cy="1701773"/>
          </a:xfrm>
          <a:prstGeom prst="roundRect">
            <a:avLst>
              <a:gd name="adj" fmla="val 709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pic>
        <p:nvPicPr>
          <p:cNvPr id="12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8282" y="3961259"/>
            <a:ext cx="406315" cy="4063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87754" y="3961259"/>
            <a:ext cx="416218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Reason it through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87754" y="4311675"/>
            <a:ext cx="4162184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Does your story fit every fact, even the odd ones?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203870" y="3702050"/>
            <a:ext cx="5168852" cy="1701773"/>
          </a:xfrm>
          <a:prstGeom prst="roundRect">
            <a:avLst>
              <a:gd name="adj" fmla="val 7090"/>
            </a:avLst>
          </a:prstGeom>
          <a:solidFill>
            <a:srgbClr val="FFFDF9"/>
          </a:solidFill>
          <a:ln w="12700">
            <a:solidFill>
              <a:srgbClr val="C2560F"/>
            </a:solidFill>
            <a:prstDash val="solid"/>
          </a:ln>
        </p:spPr>
      </p:sp>
      <p:pic>
        <p:nvPicPr>
          <p:cNvPr id="16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63082" y="3961259"/>
            <a:ext cx="406315" cy="4063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72554" y="3961259"/>
            <a:ext cx="416218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 the AI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072554" y="4311675"/>
            <a:ext cx="4162184" cy="64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97, 103, 102:</a:t>
            </a: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same runs, three counts. Tell it how you count.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12720" y="6238280"/>
            <a:ext cx="9156617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Gemba: the place where the work actually happens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01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FIVE STEPS OF ROOT CAUSE ANALYSIS · CALL IT OUT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348631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AI or people?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070" y="2241525"/>
            <a:ext cx="1974763" cy="2400279"/>
          </a:xfrm>
          <a:prstGeom prst="roundRect">
            <a:avLst>
              <a:gd name="adj" fmla="val 611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7470" y="2449934"/>
            <a:ext cx="160876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7470" y="2907060"/>
            <a:ext cx="160876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Spot 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65400" y="2241525"/>
            <a:ext cx="1974763" cy="2400279"/>
          </a:xfrm>
          <a:prstGeom prst="roundRect">
            <a:avLst>
              <a:gd name="adj" fmla="val 611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3800" y="2449934"/>
            <a:ext cx="160876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73800" y="2907060"/>
            <a:ext cx="1760013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Narrow where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11729" y="2241525"/>
            <a:ext cx="1974763" cy="2400279"/>
          </a:xfrm>
          <a:prstGeom prst="roundRect">
            <a:avLst>
              <a:gd name="adj" fmla="val 611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0130" y="2449934"/>
            <a:ext cx="160876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20130" y="2907060"/>
            <a:ext cx="160876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Go and see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57969" y="2241525"/>
            <a:ext cx="1974763" cy="2400279"/>
          </a:xfrm>
          <a:prstGeom prst="roundRect">
            <a:avLst>
              <a:gd name="adj" fmla="val 611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6370" y="2449934"/>
            <a:ext cx="160876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66370" y="2907060"/>
            <a:ext cx="160876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Ask why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7958" y="2241525"/>
            <a:ext cx="1974763" cy="2400279"/>
          </a:xfrm>
          <a:prstGeom prst="roundRect">
            <a:avLst>
              <a:gd name="adj" fmla="val 611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6359" y="2449934"/>
            <a:ext cx="160876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06359" y="2907060"/>
            <a:ext cx="1608762" cy="57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 and confirm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475" y="3759175"/>
            <a:ext cx="1708133" cy="596701"/>
          </a:xfrm>
          <a:prstGeom prst="roundRect">
            <a:avLst>
              <a:gd name="adj" fmla="val 12770"/>
            </a:avLst>
          </a:prstGeom>
          <a:solidFill>
            <a:srgbClr val="EAF0F8"/>
          </a:solidFill>
          <a:ln/>
        </p:spPr>
        <p:txBody>
          <a:bodyPr wrap="square" lIns="79282" tIns="53882" rIns="28482" bIns="28482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people, your charts, or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98715" y="3759175"/>
            <a:ext cx="1708133" cy="374523"/>
          </a:xfrm>
          <a:prstGeom prst="roundRect">
            <a:avLst>
              <a:gd name="adj" fmla="val 20346"/>
            </a:avLst>
          </a:prstGeom>
          <a:solidFill>
            <a:srgbClr val="EAF0F8"/>
          </a:solidFill>
          <a:ln/>
        </p:spPr>
        <p:txBody>
          <a:bodyPr wrap="square" lIns="79282" tIns="53882" rIns="28482" bIns="28482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is fast here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45045" y="3759175"/>
            <a:ext cx="1708133" cy="374523"/>
          </a:xfrm>
          <a:prstGeom prst="roundRect">
            <a:avLst>
              <a:gd name="adj" fmla="val 20346"/>
            </a:avLst>
          </a:prstGeom>
          <a:solidFill>
            <a:srgbClr val="FBEADF"/>
          </a:solidFill>
          <a:ln/>
        </p:spPr>
        <p:txBody>
          <a:bodyPr wrap="square" lIns="79282" tIns="53882" rIns="28482" bIns="28482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A347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Only people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91374" y="3759175"/>
            <a:ext cx="1708133" cy="596701"/>
          </a:xfrm>
          <a:prstGeom prst="roundRect">
            <a:avLst>
              <a:gd name="adj" fmla="val 12770"/>
            </a:avLst>
          </a:prstGeom>
          <a:solidFill>
            <a:srgbClr val="FBEADF"/>
          </a:solidFill>
          <a:ln/>
        </p:spPr>
        <p:txBody>
          <a:bodyPr wrap="square" lIns="79282" tIns="53882" rIns="28482" bIns="28482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A347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People lead, AI suggests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1273" y="3759175"/>
            <a:ext cx="1708133" cy="374523"/>
          </a:xfrm>
          <a:prstGeom prst="roundRect">
            <a:avLst>
              <a:gd name="adj" fmla="val 20346"/>
            </a:avLst>
          </a:prstGeom>
          <a:solidFill>
            <a:srgbClr val="FBEADF"/>
          </a:solidFill>
          <a:ln/>
        </p:spPr>
        <p:txBody>
          <a:bodyPr wrap="square" lIns="79282" tIns="53882" rIns="28482" bIns="28482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A3470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People decide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720" y="4927575"/>
            <a:ext cx="10883342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gets you to the gemba faster. It doesn’t make the trip for you.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1719461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Which one should I use?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070" y="2439442"/>
            <a:ext cx="10553833" cy="787520"/>
          </a:xfrm>
          <a:prstGeom prst="roundRect">
            <a:avLst>
              <a:gd name="adj" fmla="val 1532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094" y="2678906"/>
            <a:ext cx="6333814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 need other points of view.</a:t>
            </a:r>
            <a:endParaRPr lang="en-US" sz="18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32398" y="2680816"/>
            <a:ext cx="609562" cy="304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95929" y="2673201"/>
            <a:ext cx="2746957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Room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19070" y="3391991"/>
            <a:ext cx="10553833" cy="787520"/>
          </a:xfrm>
          <a:prstGeom prst="roundRect">
            <a:avLst>
              <a:gd name="adj" fmla="val 1532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9094" y="3631456"/>
            <a:ext cx="6333814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 want to know what makes it better or worse.</a:t>
            </a:r>
            <a:endParaRPr lang="en-US" sz="18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32398" y="3633366"/>
            <a:ext cx="609562" cy="3047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95929" y="3625751"/>
            <a:ext cx="2746957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100 Tries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19070" y="4344566"/>
            <a:ext cx="10553833" cy="787520"/>
          </a:xfrm>
          <a:prstGeom prst="roundRect">
            <a:avLst>
              <a:gd name="adj" fmla="val 15320"/>
            </a:avLst>
          </a:prstGeom>
          <a:solidFill>
            <a:srgbClr val="FFFDF9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29094" y="4584030"/>
            <a:ext cx="6333814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I’ll be doing this again tomorrow.</a:t>
            </a:r>
            <a:endParaRPr lang="en-US" sz="1800" dirty="0"/>
          </a:p>
        </p:txBody>
      </p:sp>
      <p:pic>
        <p:nvPicPr>
          <p:cNvPr id="13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32398" y="4585940"/>
            <a:ext cx="609562" cy="3047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5929" y="4578325"/>
            <a:ext cx="2746957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The Daily Loop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1284163"/>
            <a:ext cx="1088352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TURN · 5 MINUTES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20" y="1743819"/>
            <a:ext cx="10883529" cy="43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Try The Room right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20" y="2381200"/>
            <a:ext cx="7772600" cy="1833578"/>
          </a:xfrm>
          <a:prstGeom prst="roundRect">
            <a:avLst>
              <a:gd name="adj" fmla="val 5541"/>
            </a:avLst>
          </a:prstGeom>
          <a:solidFill>
            <a:srgbClr val="EAF0F8"/>
          </a:solidFill>
          <a:ln/>
        </p:spPr>
        <p:txBody>
          <a:bodyPr wrap="square" lIns="350381" tIns="224242" rIns="62393" bIns="198781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Act as a panel of 4 people: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[the boss]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[the person who does the work]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[the customer]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and a skeptic. Each one gives their view on this problem: </a:t>
            </a:r>
            <a:r>
              <a:rPr lang="en-US" sz="1800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[your problem]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Then let them respond to each other for 3 rounds. End with what they agree on and what they still disagree 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720" y="2381200"/>
            <a:ext cx="7772600" cy="1833578"/>
          </a:xfrm>
          <a:custGeom>
            <a:avLst/>
            <a:gdLst/>
            <a:ahLst/>
            <a:cxnLst/>
            <a:rect l="l" t="t" r="r" b="b"/>
            <a:pathLst>
              <a:path w="7772600" h="1833578">
                <a:moveTo>
                  <a:pt x="101600" y="1833578"/>
                </a:moveTo>
                <a:lnTo>
                  <a:pt x="101600" y="1833578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25400" stAng="16200000" swAng="-5400000"/>
                <a:lnTo>
                  <a:pt x="76200" y="1731978"/>
                </a:lnTo>
                <a:arcTo hR="101600" wR="25400" stAng="10800000" swAng="-5400000"/>
                <a:close/>
              </a:path>
            </a:pathLst>
          </a:custGeom>
          <a:solidFill>
            <a:srgbClr val="1F5FAD"/>
          </a:solidFill>
          <a:ln/>
        </p:spPr>
      </p:sp>
      <p:sp>
        <p:nvSpPr>
          <p:cNvPr id="6" name="Text 4"/>
          <p:cNvSpPr/>
          <p:nvPr/>
        </p:nvSpPr>
        <p:spPr>
          <a:xfrm>
            <a:off x="812720" y="4367113"/>
            <a:ext cx="8005778" cy="66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Need a problem? Handoffs that miss things. New hires quitting in 90 days. Late-order calls.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6274" y="2381200"/>
            <a:ext cx="2285995" cy="228599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pic>
        <p:nvPicPr>
          <p:cNvPr id="8" name="Image 0" descr="QR code to peelforward.com/il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42446" y="2457376"/>
            <a:ext cx="2133559" cy="21335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73407" y="4794176"/>
            <a:ext cx="187172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peelforward.com/ilc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720" y="5253831"/>
            <a:ext cx="10883529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256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Never used AI? Pair up. No AI allowed? Run it with four people at your table.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55773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8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THREE THINGS TO TAKE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20" y="2603450"/>
            <a:ext cx="558738" cy="53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8DB8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574627" y="2644105"/>
            <a:ext cx="10098578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Don’t take the first answer.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720" y="3555926"/>
            <a:ext cx="558738" cy="53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8DB8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74627" y="3596580"/>
            <a:ext cx="10098578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Look across before you blame.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720" y="4508500"/>
            <a:ext cx="558738" cy="533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8DB8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74627" y="4549155"/>
            <a:ext cx="10098578" cy="45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3F1E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Make tomorrow’s prompt better than today’s.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85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2514600"/>
            <a:ext cx="10883529" cy="86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BF7F2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AI finds where.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720" y="3505126"/>
            <a:ext cx="10883529" cy="86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BF7F2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You still find why.</a:t>
            </a:r>
            <a:endParaRPr lang="en-US" sz="6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20" y="2177504"/>
            <a:ext cx="6854659" cy="609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1F232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720" y="3015679"/>
            <a:ext cx="685465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1.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Don’t take the first answer.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720" y="3451250"/>
            <a:ext cx="685465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Look across before you blame.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20" y="3886820"/>
            <a:ext cx="6854659" cy="33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</a:t>
            </a:r>
            <a:r>
              <a:rPr lang="en-US" sz="1800" dirty="0">
                <a:solidFill>
                  <a:srgbClr val="1F232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Make tomorrow’s prompt better than today’s.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20" y="4449366"/>
            <a:ext cx="6854659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Jason Greer · Jason@peelbusinessdesign.com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31260" y="1488504"/>
            <a:ext cx="2793933" cy="2793933"/>
          </a:xfrm>
          <a:prstGeom prst="roundRect">
            <a:avLst>
              <a:gd name="adj" fmla="val 4546"/>
            </a:avLst>
          </a:prstGeom>
          <a:solidFill>
            <a:srgbClr val="FFFFFF"/>
          </a:solidFill>
          <a:ln/>
        </p:spPr>
      </p:sp>
      <p:pic>
        <p:nvPicPr>
          <p:cNvPr id="8" name="Image 0" descr="QR code to peelforward.com/il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32793" y="1590030"/>
            <a:ext cx="2590776" cy="2590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32603" y="4434780"/>
            <a:ext cx="2591247" cy="345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FA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peelforward.com/ilc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27761" y="4907136"/>
            <a:ext cx="3401021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27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three prompts and the practice plant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C Talk: Three Simple Prompts">
  <a:themeElements>
    <a:clrScheme name="ILC Talk: Three Simple Prompts">
      <a:dk1>
        <a:srgbClr val="1F2328"/>
      </a:dk1>
      <a:lt1>
        <a:srgbClr val="F7F5F0"/>
      </a:lt1>
      <a:dk2>
        <a:srgbClr val="55585A"/>
      </a:dk2>
      <a:lt2>
        <a:srgbClr val="E1E0DC"/>
      </a:lt2>
      <a:accent1>
        <a:srgbClr val="1F5FAD"/>
      </a:accent1>
      <a:accent2>
        <a:srgbClr val="C2560F"/>
      </a:accent2>
      <a:accent3>
        <a:srgbClr val="8DB8F0"/>
      </a:accent3>
      <a:accent4>
        <a:srgbClr val="F2994A"/>
      </a:accent4>
      <a:accent5>
        <a:srgbClr val="A3470B"/>
      </a:accent5>
      <a:accent6>
        <a:srgbClr val="B8500D"/>
      </a:accent6>
      <a:hlink>
        <a:srgbClr val="0563C1"/>
      </a:hlink>
      <a:folHlink>
        <a:srgbClr val="954F72"/>
      </a:folHlink>
    </a:clrScheme>
    <a:fontScheme name="ILC Talk: Three Simple Prompts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F684F3FE643E4C9ACBE885BB95B24B" ma:contentTypeVersion="12" ma:contentTypeDescription="Create a new document." ma:contentTypeScope="" ma:versionID="70bb8143c13e1079964d4928e8205e13">
  <xsd:schema xmlns:xsd="http://www.w3.org/2001/XMLSchema" xmlns:xs="http://www.w3.org/2001/XMLSchema" xmlns:p="http://schemas.microsoft.com/office/2006/metadata/properties" xmlns:ns2="410c45da-2c18-4633-b105-bee9634365e3" xmlns:ns3="85d2aeca-5158-415f-bffd-ae1b8a54b356" targetNamespace="http://schemas.microsoft.com/office/2006/metadata/properties" ma:root="true" ma:fieldsID="8be7fc17dc762b4796ffcf001108fb0e" ns2:_="" ns3:_="">
    <xsd:import namespace="410c45da-2c18-4633-b105-bee9634365e3"/>
    <xsd:import namespace="85d2aeca-5158-415f-bffd-ae1b8a54b3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c45da-2c18-4633-b105-bee9634365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eb4057c-1556-4916-98c4-edd189f198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2aeca-5158-415f-bffd-ae1b8a54b35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ad95b68-652e-45f0-a238-94695ef0d665}" ma:internalName="TaxCatchAll" ma:showField="CatchAllData" ma:web="85d2aeca-5158-415f-bffd-ae1b8a54b3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5d2aeca-5158-415f-bffd-ae1b8a54b356" xsi:nil="true"/>
    <lcf76f155ced4ddcb4097134ff3c332f xmlns="410c45da-2c18-4633-b105-bee9634365e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62BD55D-C2A7-4AE2-83F1-9226033239B6}"/>
</file>

<file path=customXml/itemProps2.xml><?xml version="1.0" encoding="utf-8"?>
<ds:datastoreItem xmlns:ds="http://schemas.openxmlformats.org/officeDocument/2006/customXml" ds:itemID="{D2BDE7D1-CDDF-4FD4-9682-7473A934FB49}"/>
</file>

<file path=customXml/itemProps3.xml><?xml version="1.0" encoding="utf-8"?>
<ds:datastoreItem xmlns:ds="http://schemas.openxmlformats.org/officeDocument/2006/customXml" ds:itemID="{62BAC5A3-D20F-410F-B3C5-E106E04EE3D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ILC Talk: Three Simple Prompts</dc:title>
  <dc:subject/>
  <dc:creator/>
  <cp:lastModifiedBy/>
  <cp:revision>1</cp:revision>
  <dcterms:created xsi:type="dcterms:W3CDTF">2026-10-19T19:51:26Z</dcterms:created>
  <dcterms:modified xsi:type="dcterms:W3CDTF">2026-10-19T19:51:26Z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0x01010012F684F3FE643E4C9ACBE885BB95B24B</vt:lpwstr>
  </property>
</Properties>
</file>